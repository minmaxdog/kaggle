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ppt/notesSlides/notesSlide2.xml" ContentType="application/vnd.openxmlformats-officedocument.presentationml.notesSlide+xml"/>
  <Override PartName="/ppt/charts/chart2.xml" ContentType="application/vnd.openxmlformats-officedocument.drawingml.chart+xml"/>
  <Override PartName="/ppt/notesSlides/notesSlide3.xml" ContentType="application/vnd.openxmlformats-officedocument.presentationml.notesSlide+xml"/>
  <Override PartName="/ppt/charts/chart3.xml" ContentType="application/vnd.openxmlformats-officedocument.drawingml.chart+xml"/>
  <Override PartName="/ppt/notesSlides/notesSlide4.xml" ContentType="application/vnd.openxmlformats-officedocument.presentationml.notesSlide+xml"/>
  <Override PartName="/ppt/charts/chart4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48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v>Customers</c:v>
          </c:tx>
          <c:dPt>
            <c:idx val="0"/>
            <c:bubble3D val="0"/>
            <c:spPr>
              <a:solidFill>
                <a:srgbClr val="B7DAF0"/>
              </a:solidFill>
            </c:spPr>
            <c:extLst>
              <c:ext xmlns:c16="http://schemas.microsoft.com/office/drawing/2014/chart" uri="{C3380CC4-5D6E-409C-BE32-E72D297353CC}">
                <c16:uniqueId val="{00000001-ED9C-4C2C-919B-DB4AE991C84F}"/>
              </c:ext>
            </c:extLst>
          </c:dPt>
          <c:dPt>
            <c:idx val="1"/>
            <c:bubble3D val="0"/>
            <c:spPr>
              <a:solidFill>
                <a:srgbClr val="F2D298"/>
              </a:solidFill>
            </c:spPr>
            <c:extLst>
              <c:ext xmlns:c16="http://schemas.microsoft.com/office/drawing/2014/chart" uri="{C3380CC4-5D6E-409C-BE32-E72D297353CC}">
                <c16:uniqueId val="{00000003-ED9C-4C2C-919B-DB4AE991C84F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2250" b="1">
                        <a:solidFill>
                          <a:srgbClr val="F1F5FA"/>
                        </a:solidFill>
                        <a:latin typeface="Bitstream Charter"/>
                        <a:ea typeface="Bitstream Charter"/>
                        <a:cs typeface="Bitstream Charter"/>
                      </a:rPr>
                      <a:t>73% stayed.</a:t>
                    </a:r>
                  </a:p>
                </c:rich>
              </c:tx>
              <c:spPr>
                <a:solidFill>
                  <a:srgbClr val="101D2C"/>
                </a:solidFill>
              </c:spPr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ED9C-4C2C-919B-DB4AE991C84F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2250" b="1">
                        <a:solidFill>
                          <a:srgbClr val="F1F5FA"/>
                        </a:solidFill>
                        <a:latin typeface="Bitstream Charter"/>
                        <a:ea typeface="Bitstream Charter"/>
                        <a:cs typeface="Bitstream Charter"/>
                      </a:rPr>
                      <a:t>27% left.</a:t>
                    </a:r>
                  </a:p>
                </c:rich>
              </c:tx>
              <c:spPr>
                <a:solidFill>
                  <a:srgbClr val="101D2C"/>
                </a:solidFill>
              </c:spPr>
              <c:showLegendKey val="1"/>
              <c:showVal val="1"/>
              <c:showCatName val="1"/>
              <c:showSerName val="1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ED9C-4C2C-919B-DB4AE991C84F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1"/>
            <c:showVal val="1"/>
            <c:showCatName val="1"/>
            <c:showSerName val="1"/>
            <c:showPercent val="1"/>
            <c:showBubbleSize val="1"/>
            <c:showLeaderLines val="1"/>
            <c:extLst>
              <c:ext xmlns:c15="http://schemas.microsoft.com/office/drawing/2012/chart" uri="{CE6537A1-D6FC-4f65-9D91-7224C49458BB}"/>
            </c:extLst>
          </c:dLbls>
          <c:cat>
            <c:strRef>
              <c:f>'Chart Data'!$A$2:$A$3</c:f>
              <c:strCache>
                <c:ptCount val="2"/>
                <c:pt idx="0">
                  <c:v>Stayed</c:v>
                </c:pt>
                <c:pt idx="1">
                  <c:v>Left</c:v>
                </c:pt>
              </c:strCache>
            </c:strRef>
          </c:cat>
          <c:val>
            <c:numRef>
              <c:f>'Chart Data'!$B$2:$B$3</c:f>
              <c:numCache>
                <c:formatCode>General</c:formatCode>
                <c:ptCount val="2"/>
                <c:pt idx="0">
                  <c:v>5174</c:v>
                </c:pt>
                <c:pt idx="1">
                  <c:v>1869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D9C-4C2C-919B-DB4AE991C84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62"/>
      </c:doughnutChart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Correlation</c:v>
          </c:tx>
          <c:invertIfNegative val="0"/>
          <c:dPt>
            <c:idx val="0"/>
            <c:invertIfNegative val="0"/>
            <c:bubble3D val="0"/>
            <c:spPr>
              <a:solidFill>
                <a:srgbClr val="B7DAF0"/>
              </a:solidFill>
            </c:spPr>
            <c:extLst>
              <c:ext xmlns:c16="http://schemas.microsoft.com/office/drawing/2014/chart" uri="{C3380CC4-5D6E-409C-BE32-E72D297353CC}">
                <c16:uniqueId val="{00000001-699A-4434-95EC-E43FED233E9B}"/>
              </c:ext>
            </c:extLst>
          </c:dPt>
          <c:dPt>
            <c:idx val="1"/>
            <c:invertIfNegative val="0"/>
            <c:bubble3D val="0"/>
            <c:spPr>
              <a:solidFill>
                <a:srgbClr val="B7DAF0"/>
              </a:solidFill>
            </c:spPr>
            <c:extLst>
              <c:ext xmlns:c16="http://schemas.microsoft.com/office/drawing/2014/chart" uri="{C3380CC4-5D6E-409C-BE32-E72D297353CC}">
                <c16:uniqueId val="{00000003-699A-4434-95EC-E43FED233E9B}"/>
              </c:ext>
            </c:extLst>
          </c:dPt>
          <c:dPt>
            <c:idx val="2"/>
            <c:invertIfNegative val="0"/>
            <c:bubble3D val="0"/>
            <c:spPr>
              <a:solidFill>
                <a:srgbClr val="B7DAF0"/>
              </a:solidFill>
            </c:spPr>
            <c:extLst>
              <c:ext xmlns:c16="http://schemas.microsoft.com/office/drawing/2014/chart" uri="{C3380CC4-5D6E-409C-BE32-E72D297353CC}">
                <c16:uniqueId val="{00000005-699A-4434-95EC-E43FED233E9B}"/>
              </c:ext>
            </c:extLst>
          </c:dPt>
          <c:dPt>
            <c:idx val="3"/>
            <c:invertIfNegative val="0"/>
            <c:bubble3D val="0"/>
            <c:spPr>
              <a:solidFill>
                <a:srgbClr val="B7DAF0"/>
              </a:solidFill>
            </c:spPr>
            <c:extLst>
              <c:ext xmlns:c16="http://schemas.microsoft.com/office/drawing/2014/chart" uri="{C3380CC4-5D6E-409C-BE32-E72D297353CC}">
                <c16:uniqueId val="{00000007-699A-4434-95EC-E43FED233E9B}"/>
              </c:ext>
            </c:extLst>
          </c:dPt>
          <c:dPt>
            <c:idx val="4"/>
            <c:invertIfNegative val="0"/>
            <c:bubble3D val="0"/>
            <c:spPr>
              <a:solidFill>
                <a:srgbClr val="F2D298"/>
              </a:solidFill>
            </c:spPr>
            <c:extLst>
              <c:ext xmlns:c16="http://schemas.microsoft.com/office/drawing/2014/chart" uri="{C3380CC4-5D6E-409C-BE32-E72D297353CC}">
                <c16:uniqueId val="{00000009-699A-4434-95EC-E43FED233E9B}"/>
              </c:ext>
            </c:extLst>
          </c:dPt>
          <c:dPt>
            <c:idx val="5"/>
            <c:invertIfNegative val="0"/>
            <c:bubble3D val="0"/>
            <c:spPr>
              <a:solidFill>
                <a:srgbClr val="F2D298"/>
              </a:solidFill>
            </c:spPr>
            <c:extLst>
              <c:ext xmlns:c16="http://schemas.microsoft.com/office/drawing/2014/chart" uri="{C3380CC4-5D6E-409C-BE32-E72D297353CC}">
                <c16:uniqueId val="{0000000B-699A-4434-95EC-E43FED233E9B}"/>
              </c:ext>
            </c:extLst>
          </c:dPt>
          <c:dPt>
            <c:idx val="6"/>
            <c:invertIfNegative val="0"/>
            <c:bubble3D val="0"/>
            <c:spPr>
              <a:solidFill>
                <a:srgbClr val="F2D298"/>
              </a:solidFill>
            </c:spPr>
            <c:extLst>
              <c:ext xmlns:c16="http://schemas.microsoft.com/office/drawing/2014/chart" uri="{C3380CC4-5D6E-409C-BE32-E72D297353CC}">
                <c16:uniqueId val="{0000000D-699A-4434-95EC-E43FED233E9B}"/>
              </c:ext>
            </c:extLst>
          </c:dPt>
          <c:dPt>
            <c:idx val="7"/>
            <c:invertIfNegative val="0"/>
            <c:bubble3D val="0"/>
            <c:spPr>
              <a:solidFill>
                <a:srgbClr val="F2D298"/>
              </a:solidFill>
            </c:spPr>
            <c:extLst>
              <c:ext xmlns:c16="http://schemas.microsoft.com/office/drawing/2014/chart" uri="{C3380CC4-5D6E-409C-BE32-E72D297353CC}">
                <c16:uniqueId val="{0000000F-699A-4434-95EC-E43FED233E9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725" b="1">
                    <a:solidFill>
                      <a:srgbClr val="101D2C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Data'!$A$2:$A$9</c:f>
              <c:strCache>
                <c:ptCount val="8"/>
                <c:pt idx="0">
                  <c:v>Tenure</c:v>
                </c:pt>
                <c:pt idx="1">
                  <c:v>Two-year contract</c:v>
                </c:pt>
                <c:pt idx="2">
                  <c:v>No internet</c:v>
                </c:pt>
                <c:pt idx="3">
                  <c:v>Total charges</c:v>
                </c:pt>
                <c:pt idx="4">
                  <c:v>Monthly charges</c:v>
                </c:pt>
                <c:pt idx="5">
                  <c:v>Paperless billing</c:v>
                </c:pt>
                <c:pt idx="6">
                  <c:v>Electronic cheque</c:v>
                </c:pt>
                <c:pt idx="7">
                  <c:v>Fibre optic</c:v>
                </c:pt>
              </c:strCache>
            </c:strRef>
          </c:cat>
          <c:val>
            <c:numRef>
              <c:f>'Chart Data'!$B$2:$B$9</c:f>
              <c:numCache>
                <c:formatCode>0.00</c:formatCode>
                <c:ptCount val="8"/>
                <c:pt idx="0">
                  <c:v>-0.34399999999999997</c:v>
                </c:pt>
                <c:pt idx="1">
                  <c:v>-0.30099999999999999</c:v>
                </c:pt>
                <c:pt idx="2">
                  <c:v>-0.23300000000000001</c:v>
                </c:pt>
                <c:pt idx="3">
                  <c:v>-0.191</c:v>
                </c:pt>
                <c:pt idx="4">
                  <c:v>0.2</c:v>
                </c:pt>
                <c:pt idx="5">
                  <c:v>0.20399999999999999</c:v>
                </c:pt>
                <c:pt idx="6">
                  <c:v>0.308</c:v>
                </c:pt>
                <c:pt idx="7">
                  <c:v>0.308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99A-4434-95EC-E43FED233E9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 sz="1800" dirty="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Feature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9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4"/>
          <c:min val="-0.4"/>
        </c:scaling>
        <c:delete val="0"/>
        <c:axPos val="b"/>
        <c:title>
          <c:tx>
            <c:rich>
              <a:bodyPr/>
              <a:lstStyle/>
              <a:p>
                <a:r>
                  <a:rPr lang="en-GB" sz="1800" dirty="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Pearson correlation with Churn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one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  <c:majorUnit val="0.4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F1</c:v>
          </c:tx>
          <c:spPr>
            <a:solidFill>
              <a:srgbClr val="B7DAF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01D2C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Random Forest</c:v>
                </c:pt>
                <c:pt idx="1">
                  <c:v>Gradient Boosting</c:v>
                </c:pt>
                <c:pt idx="2">
                  <c:v>XGBoost</c:v>
                </c:pt>
                <c:pt idx="3">
                  <c:v>Logistic Regression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0.51600000000000001</c:v>
                </c:pt>
                <c:pt idx="1">
                  <c:v>0.55300000000000005</c:v>
                </c:pt>
                <c:pt idx="2">
                  <c:v>0.58299999999999996</c:v>
                </c:pt>
                <c:pt idx="3">
                  <c:v>0.625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17C-443D-93E8-7893D2BA26F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Model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9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7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F1 score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  <c:majorUnit val="0.35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GB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Score</c:v>
          </c:tx>
          <c:spPr>
            <a:solidFill>
              <a:srgbClr val="B7DAF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875" b="1">
                    <a:solidFill>
                      <a:srgbClr val="101D2C"/>
                    </a:solidFill>
                    <a:latin typeface="Bitstream Charter"/>
                    <a:ea typeface="Bitstream Charter"/>
                    <a:cs typeface="Bitstream Charte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Data'!$A$2:$A$4</c:f>
              <c:strCache>
                <c:ptCount val="3"/>
                <c:pt idx="0">
                  <c:v>Recall</c:v>
                </c:pt>
                <c:pt idx="1">
                  <c:v>Precision</c:v>
                </c:pt>
                <c:pt idx="2">
                  <c:v>Accuracy</c:v>
                </c:pt>
              </c:strCache>
            </c:strRef>
          </c:cat>
          <c:val>
            <c:numRef>
              <c:f>'Chart Data'!$B$2:$B$4</c:f>
              <c:numCache>
                <c:formatCode>0%</c:formatCode>
                <c:ptCount val="3"/>
                <c:pt idx="0">
                  <c:v>0.70499999999999996</c:v>
                </c:pt>
                <c:pt idx="1">
                  <c:v>0.56699999999999995</c:v>
                </c:pt>
                <c:pt idx="2">
                  <c:v>0.77900000000000003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B40-4C7E-B561-77814B9E6607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8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Metric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low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9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GB" sz="1800">
                    <a:solidFill>
                      <a:srgbClr val="F1F5FA"/>
                    </a:solidFill>
                    <a:latin typeface="Bitstream Charter"/>
                    <a:ea typeface="Bitstream Charter"/>
                    <a:cs typeface="Bitstream Charter"/>
                  </a:rPr>
                  <a:t>Share (%)</a:t>
                </a:r>
              </a:p>
            </c:rich>
          </c:tx>
          <c:overlay val="0"/>
        </c:title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65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endParaRPr lang="en-US"/>
          </a:p>
        </c:txPr>
        <c:crossAx val="48650112"/>
        <c:crosses val="autoZero"/>
        <c:crossBetween val="between"/>
        <c:majorUnit val="0.5"/>
      </c:valAx>
      <c:spPr>
        <a:noFill/>
        <a:ln>
          <a:noFill/>
        </a:ln>
      </c:spPr>
    </c:plotArea>
    <c:plotVisOnly val="1"/>
    <c:dispBlanksAs val="zero"/>
    <c:showDLblsOverMax val="1"/>
  </c:chart>
  <c:spPr>
    <a:noFill/>
    <a:ln>
      <a:noFill/>
    </a:ln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supplied HTML. 7043 customers, 5174 stayed, 1869 left. Chart percentages rounded to two significant figures. Customer count remains exact.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HTML Pearson chart. Ordered from most positive to most negative, top to bottom (horizontal category axis renders in reverse order). Original values retained; displayed to two significant figures. Four strongest positive and four distinct negative factors. Duplicate no-internet indicators represented once. Association does not establish causation. Fibre optic and electronic cheque tie for strongest positive correlation.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initial HTML comparison, 1057 test cases. Original F1 values .625, .583, .553, .516, displayed to two significant figures. Final selected model uses C=.01, class weights 1:2, L2, liblinear, threshold .522.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final HTML test-set comparison, tuned threshold .522, 1057 cases. Accuracy .779, churn precision .567, churn recall .705. Displayed to two significant figures as 78%, 57%, 71%. Accuracy denominator is all customers, precision denominator predicted churners, recall denominator actual churners.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FEFC3DD4-52AD-449B-A38C-8DE57B8751D6}"/>
              </a:ext>
            </a:extLst>
          </p:cNvPr>
          <p:cNvSpPr>
            <a:spLocks noGrp="1"/>
          </p:cNvSpPr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30360044-CA67-42A2-8B45-D8E9FBC3FD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Subtitle">
            <a:extLst>
              <a:ext uri="{FF2B5EF4-FFF2-40B4-BE49-F238E27FC236}">
                <a16:creationId xmlns:a16="http://schemas.microsoft.com/office/drawing/2014/main" id="{0BBE7C72-4EE4-435B-B883-0E2F727FD0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ccent rule">
            <a:extLst>
              <a:ext uri="{FF2B5EF4-FFF2-40B4-BE49-F238E27FC236}">
                <a16:creationId xmlns:a16="http://schemas.microsoft.com/office/drawing/2014/main" id="{B41EC175-8849-4F93-A4AD-2FC676593E84}"/>
              </a:ext>
            </a:extLst>
          </p:cNvPr>
          <p:cNvSpPr>
            <a:spLocks noGrp="1"/>
          </p:cNvSpPr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Section title">
            <a:extLst>
              <a:ext uri="{FF2B5EF4-FFF2-40B4-BE49-F238E27FC236}">
                <a16:creationId xmlns:a16="http://schemas.microsoft.com/office/drawing/2014/main" id="{87D41E34-CD5C-49F4-A121-5D2A2266C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AB1DEB00-C8E7-42EC-BA9A-1F1DBBAAD3A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CB840526-6A2D-4C76-B505-40EDF785B7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Body">
            <a:extLst>
              <a:ext uri="{FF2B5EF4-FFF2-40B4-BE49-F238E27FC236}">
                <a16:creationId xmlns:a16="http://schemas.microsoft.com/office/drawing/2014/main" id="{5822173F-1BAB-48C4-8351-2D5A80D31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ccent rule">
            <a:extLst>
              <a:ext uri="{FF2B5EF4-FFF2-40B4-BE49-F238E27FC236}">
                <a16:creationId xmlns:a16="http://schemas.microsoft.com/office/drawing/2014/main" id="{9306033C-F602-439B-A108-4BE272B7A3EE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145488D-BFD0-4961-84BD-3F747C53F3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5CA06C9A-9865-42B4-BEB3-ECCC06B3E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4" name="Right column">
            <a:extLst>
              <a:ext uri="{FF2B5EF4-FFF2-40B4-BE49-F238E27FC236}">
                <a16:creationId xmlns:a16="http://schemas.microsoft.com/office/drawing/2014/main" id="{5CA13C8A-8823-409D-AB37-1BF7C8D9305D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ccent rule">
            <a:extLst>
              <a:ext uri="{FF2B5EF4-FFF2-40B4-BE49-F238E27FC236}">
                <a16:creationId xmlns:a16="http://schemas.microsoft.com/office/drawing/2014/main" id="{C21B8859-F95A-4D2D-BEFC-C5A19F7FC20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  <a:prstDash val="solid"/>
          </a:ln>
        </p:spPr>
      </p:sp>
      <p:sp>
        <p:nvSpPr>
          <p:cNvPr id="2" name="Title">
            <a:extLst>
              <a:ext uri="{FF2B5EF4-FFF2-40B4-BE49-F238E27FC236}">
                <a16:creationId xmlns:a16="http://schemas.microsoft.com/office/drawing/2014/main" id="{7F301099-EDB5-4FF6-BDC9-CAD84653A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3" name="Left column">
            <a:extLst>
              <a:ext uri="{FF2B5EF4-FFF2-40B4-BE49-F238E27FC236}">
                <a16:creationId xmlns:a16="http://schemas.microsoft.com/office/drawing/2014/main" id="{893D7CA4-9230-4947-8366-4792453B9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4" Type="http://schemas.openxmlformats.org/officeDocument/2006/relationships/chart" Target="../charts/char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0337" r="203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8E8BEA1B-D1CA-480F-AED8-C7EB012A801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866D38-7923-48F0-9711-313A4AEE840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33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Objective</a:t>
            </a:r>
            <a:endParaRPr sz="330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0A15795-C645-47AA-8B74-15035816F9F4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1375682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dirty="0">
                <a:solidFill>
                  <a:srgbClr val="F1F5FA"/>
                </a:solidFill>
                <a:latin typeface="Bitstream Charter"/>
              </a:rPr>
              <a:t>Churn refers to customers who are lost to the business. </a:t>
            </a:r>
          </a:p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Our goal is to use data to predict future churn.</a:t>
            </a:r>
            <a:endParaRPr lang="en-GB" sz="2175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We have 7k rows of customer data for </a:t>
            </a:r>
            <a:r>
              <a:rPr lang="en-GB" sz="2175" b="1" dirty="0" err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Unesco</a:t>
            </a: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 with a 27% Churn rate.</a:t>
            </a:r>
            <a:endParaRPr sz="2175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graphicFrame>
        <p:nvGraphicFramePr>
          <p:cNvPr id="10" name="Chart"/>
          <p:cNvGraphicFramePr/>
          <p:nvPr/>
        </p:nvGraphicFramePr>
        <p:xfrm>
          <a:off x="609600" y="2047875"/>
          <a:ext cx="10972800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295055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0337" r="203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B3290EA-9399-42FD-A982-A4A04BADB281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FF3C78-7078-4134-872B-F5E3B7C43E0B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33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Feature Correlation</a:t>
            </a:r>
            <a:endParaRPr sz="330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46272ED-9AA1-47AE-8907-13ED96E735BE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Those customer with contracts and high tenure tend to churn less. Fibre optic customers and electronic cheque users show higher churn.</a:t>
            </a:r>
          </a:p>
        </p:txBody>
      </p:sp>
      <p:graphicFrame>
        <p:nvGraphicFramePr>
          <p:cNvPr id="10" name="Chart"/>
          <p:cNvGraphicFramePr/>
          <p:nvPr>
            <p:extLst>
              <p:ext uri="{D42A27DB-BD31-4B8C-83A1-F6EECF244321}">
                <p14:modId xmlns:p14="http://schemas.microsoft.com/office/powerpoint/2010/main" val="399075972"/>
              </p:ext>
            </p:extLst>
          </p:nvPr>
        </p:nvGraphicFramePr>
        <p:xfrm>
          <a:off x="285750" y="1762125"/>
          <a:ext cx="11620500" cy="4714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5764361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0337" r="203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500F5B4-6A20-4442-8760-E325C75E441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45E1A4-361E-4FE3-A070-B4E602129736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33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Prediction Model Choice</a:t>
            </a:r>
            <a:endParaRPr sz="330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8EA10E1-2B2B-42B5-B570-54F0C0A9D78C}"/>
              </a:ext>
            </a:extLst>
          </p:cNvPr>
          <p:cNvSpPr>
            <a:spLocks noGrp="1"/>
          </p:cNvSpPr>
          <p:nvPr/>
        </p:nvSpPr>
        <p:spPr>
          <a:xfrm>
            <a:off x="609600" y="1000125"/>
            <a:ext cx="10972800" cy="8382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Logistic regression was the strongest model of those used by F1 Score</a:t>
            </a:r>
            <a:r>
              <a:rPr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.</a:t>
            </a:r>
          </a:p>
        </p:txBody>
      </p:sp>
      <p:graphicFrame>
        <p:nvGraphicFramePr>
          <p:cNvPr id="10" name="Chart"/>
          <p:cNvGraphicFramePr/>
          <p:nvPr/>
        </p:nvGraphicFramePr>
        <p:xfrm>
          <a:off x="609600" y="2047875"/>
          <a:ext cx="10972800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26517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D2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rcRect l="20337" r="2033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2738F4D-505C-4B9B-9E75-9667709125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D2C">
              <a:alpha val="98500"/>
            </a:srgbClr>
          </a:solidFill>
          <a:ln w="0">
            <a:noFill/>
          </a:ln>
        </p:spPr>
        <p:txBody>
          <a:bodyPr/>
          <a:lstStyle/>
          <a:p>
            <a:endParaRPr lang="en-GB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EA91EEE-5457-4021-8848-C320CC4ADC1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1097280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300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3300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Prediction Performance metrics</a:t>
            </a:r>
            <a:endParaRPr sz="3300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2C2DE97-D69E-409B-98FF-76197DD27379}"/>
              </a:ext>
            </a:extLst>
          </p:cNvPr>
          <p:cNvSpPr>
            <a:spLocks noGrp="1"/>
          </p:cNvSpPr>
          <p:nvPr/>
        </p:nvSpPr>
        <p:spPr>
          <a:xfrm>
            <a:off x="609600" y="1066800"/>
            <a:ext cx="10972800" cy="104775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Our model </a:t>
            </a:r>
            <a:r>
              <a:rPr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correctly classifies 78% of test customers.</a:t>
            </a:r>
            <a:endParaRPr lang="en-GB" sz="2175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  <a:p>
            <a:pPr>
              <a:defRPr sz="2175" b="1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lang="en-GB" sz="2175" b="1" dirty="0">
                <a:solidFill>
                  <a:srgbClr val="F1F5FA"/>
                </a:solidFill>
                <a:latin typeface="Bitstream Charter"/>
                <a:ea typeface="Bitstream Charter"/>
                <a:cs typeface="Bitstream Charter"/>
              </a:rPr>
              <a:t>This is comparable to other performing models in the competition. </a:t>
            </a:r>
            <a:endParaRPr sz="2175" b="1" dirty="0">
              <a:solidFill>
                <a:srgbClr val="F1F5FA"/>
              </a:solidFill>
              <a:latin typeface="Bitstream Charter"/>
              <a:ea typeface="Bitstream Charter"/>
              <a:cs typeface="Bitstream Charter"/>
            </a:endParaRPr>
          </a:p>
        </p:txBody>
      </p:sp>
      <p:graphicFrame>
        <p:nvGraphicFramePr>
          <p:cNvPr id="10" name="Chart"/>
          <p:cNvGraphicFramePr/>
          <p:nvPr/>
        </p:nvGraphicFramePr>
        <p:xfrm>
          <a:off x="609600" y="2047875"/>
          <a:ext cx="10972800" cy="4429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20843025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326</Words>
  <Application>Microsoft Office PowerPoint</Application>
  <DocSecurity>0</DocSecurity>
  <PresentationFormat>Widescreen</PresentationFormat>
  <Paragraphs>23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Aptos</vt:lpstr>
      <vt:lpstr>Bitstream Charter</vt:lpstr>
      <vt:lpstr>ChatGPT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alex miles</cp:lastModifiedBy>
  <cp:revision>2</cp:revision>
  <dcterms:created xsi:type="dcterms:W3CDTF">2026-10-02T06:46:51Z</dcterms:created>
  <dcterms:modified xsi:type="dcterms:W3CDTF">2026-10-02T07:10:13Z</dcterms:modified>
</cp:coreProperties>
</file>