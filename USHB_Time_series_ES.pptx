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3" r:id="rId5"/>
    <p:sldId id="259" r:id="rId6"/>
    <p:sldId id="260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C958E-4766-7D59-225F-77C8DE365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8423B3-9E82-B832-A7CA-B383DC5BD6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C483BE-3CBB-A833-CA81-46C856FAEC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085099-8963-02AE-29AB-FBFC548831A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407113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E546B-1B47-C3C9-3EC2-025983B75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C3A8C6-A32F-DFB9-B63F-6DDAEADC2C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8884BA-E39B-4247-6F77-CC8825AC7D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5D0CA2-E4E7-EEDE-7C0F-CE01287BFB1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2499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3E7CA14-4035-4D76-9571-DA4ED8826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9F810B31-7D3F-4B8E-88B3-EF38BA8FA4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A4A26E28-1FF7-4F2E-8103-00656565D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9BAF1AB-855E-43DE-87B4-D8BF59CC5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397A282-15F3-499D-80D6-23968BC74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6E0813C-486F-450A-9E9D-0E1725E72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2251E39-4381-455F-B807-2FA09A4CB6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0B370BDB-35E8-4EDA-9620-BDF4B91C3B2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04DF048-038D-4E75-8CD6-DB5C3D448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2A92A8C5-6EF7-4087-A4D8-BA6A43097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D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4A0B06D-E4CF-4B47-9A31-0139D142E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857500" y="15150"/>
            <a:ext cx="6858000" cy="68277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71C20A7-FA72-44DA-A536-A44BC30080F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D2C">
              <a:alpha val="98800"/>
            </a:srgbClr>
          </a:solidFill>
          <a:ln w="0"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3C8033-88D3-456E-900A-87A2F8E5AD4C}"/>
              </a:ext>
            </a:extLst>
          </p:cNvPr>
          <p:cNvSpPr>
            <a:spLocks noGrp="1"/>
          </p:cNvSpPr>
          <p:nvPr/>
        </p:nvSpPr>
        <p:spPr>
          <a:xfrm>
            <a:off x="876957" y="535133"/>
            <a:ext cx="111633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3000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GB" sz="3000" b="1">
                <a:solidFill>
                  <a:srgbClr val="F1F5FA"/>
                </a:solidFill>
                <a:latin typeface="Bitstream Charter"/>
              </a:rPr>
              <a:t>US </a:t>
            </a:r>
            <a:r>
              <a:rPr lang="en-GB" sz="3000" b="1" dirty="0">
                <a:solidFill>
                  <a:srgbClr val="F1F5FA"/>
                </a:solidFill>
                <a:latin typeface="Bitstream Charter"/>
              </a:rPr>
              <a:t>housing starts forecasting</a:t>
            </a:r>
            <a:endParaRPr sz="3000" dirty="0">
              <a:solidFill>
                <a:srgbClr val="F1F5FA"/>
              </a:solidFill>
              <a:latin typeface="Bitstream Charter"/>
              <a:ea typeface="Bitstream Charter"/>
              <a:cs typeface="Bitstream Charte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F0C1AB-9ABA-4A83-A827-74E0A7840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49" y="1626617"/>
            <a:ext cx="3907785" cy="38905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F9F92C5-AAEA-48B2-8B04-BDF40BD962D9}"/>
              </a:ext>
            </a:extLst>
          </p:cNvPr>
          <p:cNvSpPr>
            <a:spLocks noGrp="1"/>
          </p:cNvSpPr>
          <p:nvPr/>
        </p:nvSpPr>
        <p:spPr>
          <a:xfrm>
            <a:off x="5000625" y="1943102"/>
            <a:ext cx="6762750" cy="325755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0">
            <a:solidFill>
              <a:schemeClr val="tx1"/>
            </a:solidFill>
          </a:ln>
        </p:spPr>
        <p:txBody>
          <a:bodyPr anchor="ctr">
            <a:noAutofit/>
          </a:bodyPr>
          <a:lstStyle>
            <a:defPPr>
              <a:defRPr sz="2400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r>
              <a:rPr sz="2800" b="1" dirty="0">
                <a:solidFill>
                  <a:srgbClr val="F1F5FA"/>
                </a:solidFill>
                <a:latin typeface="Bitstream Charter"/>
              </a:rPr>
              <a:t>We seek to forecast house builds in the US using only historic data.</a:t>
            </a:r>
            <a:endParaRPr lang="en-GB" sz="2800" b="1" dirty="0">
              <a:solidFill>
                <a:srgbClr val="F1F5FA"/>
              </a:solidFill>
              <a:latin typeface="Bitstream Charter"/>
            </a:endParaRPr>
          </a:p>
          <a:p>
            <a:endParaRPr lang="en-GB" sz="2800" b="1" dirty="0">
              <a:solidFill>
                <a:srgbClr val="F1F5FA"/>
              </a:solidFill>
              <a:latin typeface="Bitstream Charter"/>
            </a:endParaRPr>
          </a:p>
          <a:p>
            <a:r>
              <a:rPr lang="en-GB" sz="2800" b="1" dirty="0">
                <a:solidFill>
                  <a:srgbClr val="F1F5FA"/>
                </a:solidFill>
                <a:latin typeface="Bitstream Charter"/>
              </a:rPr>
              <a:t>We get the data from Federal Reserve Economic Data (FRED), provided by the Federal Reserve Bank of St. Louis.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B2B172-74F9-403D-9612-9BDFE499BBF3}"/>
              </a:ext>
            </a:extLst>
          </p:cNvPr>
          <p:cNvSpPr>
            <a:spLocks noGrp="1"/>
          </p:cNvSpPr>
          <p:nvPr/>
        </p:nvSpPr>
        <p:spPr>
          <a:xfrm>
            <a:off x="4572000" y="2952750"/>
            <a:ext cx="6762750" cy="1619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250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2250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endParaRPr sz="2250" b="1" dirty="0">
              <a:solidFill>
                <a:srgbClr val="F1F5FA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4C73D6-C789-4775-86A1-A94D3F0A6B76}"/>
              </a:ext>
            </a:extLst>
          </p:cNvPr>
          <p:cNvSpPr>
            <a:spLocks noGrp="1"/>
          </p:cNvSpPr>
          <p:nvPr/>
        </p:nvSpPr>
        <p:spPr>
          <a:xfrm>
            <a:off x="4572000" y="4857750"/>
            <a:ext cx="6762750" cy="1190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00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2400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endParaRPr sz="2400" b="1" dirty="0">
              <a:solidFill>
                <a:srgbClr val="F1F5FA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1321572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D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5CE4C177-2A30-AED6-CE8E-C944D64DD6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80" b="7259"/>
          <a:stretch>
            <a:fillRect/>
          </a:stretch>
        </p:blipFill>
        <p:spPr>
          <a:xfrm>
            <a:off x="2255520" y="926028"/>
            <a:ext cx="7377088" cy="4137829"/>
          </a:xfrm>
          <a:prstGeom prst="rect">
            <a:avLst/>
          </a:prstGeom>
          <a:ln w="76200">
            <a:solidFill>
              <a:schemeClr val="accent5">
                <a:lumMod val="50000"/>
              </a:schemeClr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3CB1473-E069-4EC4-A907-00AF46C38E50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111633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3000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 dirty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Monthly US housing starts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1E5255-9946-42FA-BB49-0F8DC398AED1}"/>
              </a:ext>
            </a:extLst>
          </p:cNvPr>
          <p:cNvSpPr>
            <a:spLocks noGrp="1"/>
          </p:cNvSpPr>
          <p:nvPr/>
        </p:nvSpPr>
        <p:spPr>
          <a:xfrm>
            <a:off x="514350" y="5268007"/>
            <a:ext cx="11163300" cy="1460379"/>
          </a:xfrm>
          <a:prstGeom prst="rect">
            <a:avLst/>
          </a:prstGeom>
          <a:solidFill>
            <a:schemeClr val="accent5">
              <a:lumMod val="50000"/>
            </a:schemeClr>
          </a:solidFill>
          <a:ln w="0">
            <a:solidFill>
              <a:schemeClr val="tx1"/>
            </a:solidFill>
          </a:ln>
        </p:spPr>
        <p:txBody>
          <a:bodyPr anchor="ctr">
            <a:noAutofit/>
          </a:bodyPr>
          <a:lstStyle>
            <a:defPPr>
              <a:defRPr sz="1725" b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1725" b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00" b="1" dirty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The housing build rate fell in 2008. The pandemic caused another sharp fall in </a:t>
            </a:r>
            <a:r>
              <a:rPr sz="2800" b="1" dirty="0">
                <a:solidFill>
                  <a:srgbClr val="F1F5FA"/>
                </a:solidFill>
                <a:latin typeface="Bitstream Charter"/>
              </a:rPr>
              <a:t>2020. </a:t>
            </a:r>
            <a:r>
              <a:rPr lang="en-GB" sz="2800" b="1" dirty="0">
                <a:solidFill>
                  <a:srgbClr val="F1F5FA"/>
                </a:solidFill>
                <a:latin typeface="Bitstream Charter"/>
              </a:rPr>
              <a:t>Housing starts remain below their mid-2000s peak.</a:t>
            </a:r>
            <a:endParaRPr sz="2800" b="1" dirty="0">
              <a:solidFill>
                <a:srgbClr val="F1F5FA"/>
              </a:solidFill>
              <a:latin typeface="Bitstream Charter"/>
            </a:endParaRP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B8896FBB-C868-0FA5-23DE-165AAC3A3954}"/>
              </a:ext>
            </a:extLst>
          </p:cNvPr>
          <p:cNvSpPr/>
          <p:nvPr/>
        </p:nvSpPr>
        <p:spPr>
          <a:xfrm rot="10800000">
            <a:off x="4385126" y="2258567"/>
            <a:ext cx="378372" cy="1996853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011BDE4-119B-0B71-3673-A825FF6A7FE7}"/>
              </a:ext>
            </a:extLst>
          </p:cNvPr>
          <p:cNvSpPr/>
          <p:nvPr/>
        </p:nvSpPr>
        <p:spPr>
          <a:xfrm>
            <a:off x="3802117" y="4255421"/>
            <a:ext cx="1403131" cy="2988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2008 Crash</a:t>
            </a:r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2FCBD312-F561-7F96-5CA7-B45F4FA73C52}"/>
              </a:ext>
            </a:extLst>
          </p:cNvPr>
          <p:cNvSpPr/>
          <p:nvPr/>
        </p:nvSpPr>
        <p:spPr>
          <a:xfrm>
            <a:off x="7675118" y="1486234"/>
            <a:ext cx="378372" cy="927045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B699751-9103-2AE3-C460-12793D927034}"/>
              </a:ext>
            </a:extLst>
          </p:cNvPr>
          <p:cNvSpPr/>
          <p:nvPr/>
        </p:nvSpPr>
        <p:spPr>
          <a:xfrm>
            <a:off x="7190334" y="1387185"/>
            <a:ext cx="1598252" cy="3476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COVID 19</a:t>
            </a:r>
          </a:p>
        </p:txBody>
      </p:sp>
    </p:spTree>
    <p:extLst>
      <p:ext uri="{BB962C8B-B14F-4D97-AF65-F5344CB8AC3E}">
        <p14:creationId xmlns:p14="http://schemas.microsoft.com/office/powerpoint/2010/main" val="1492513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D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6C9A8FBD-C5D0-6BBC-0F85-114F9E2A4623}"/>
              </a:ext>
            </a:extLst>
          </p:cNvPr>
          <p:cNvSpPr/>
          <p:nvPr/>
        </p:nvSpPr>
        <p:spPr>
          <a:xfrm>
            <a:off x="8212093" y="1935481"/>
            <a:ext cx="3194247" cy="1823719"/>
          </a:xfrm>
          <a:prstGeom prst="rect">
            <a:avLst/>
          </a:prstGeom>
          <a:solidFill>
            <a:srgbClr val="F9EB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GB" sz="1400" dirty="0">
                <a:solidFill>
                  <a:schemeClr val="tx1"/>
                </a:solidFill>
              </a:rPr>
              <a:t>Series rebased to 1 at January 2000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29BE50-B1EA-424F-9B45-EDC913B008D6}"/>
              </a:ext>
            </a:extLst>
          </p:cNvPr>
          <p:cNvSpPr>
            <a:spLocks noGrp="1"/>
          </p:cNvSpPr>
          <p:nvPr/>
        </p:nvSpPr>
        <p:spPr>
          <a:xfrm>
            <a:off x="695324" y="206682"/>
            <a:ext cx="111633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3000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 dirty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Housing starts and economic factors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FBC1EDE-A573-41BC-BBA7-BF7496A3EEE2}"/>
              </a:ext>
            </a:extLst>
          </p:cNvPr>
          <p:cNvSpPr>
            <a:spLocks noGrp="1"/>
          </p:cNvSpPr>
          <p:nvPr/>
        </p:nvSpPr>
        <p:spPr>
          <a:xfrm>
            <a:off x="1137413" y="4860835"/>
            <a:ext cx="9639042" cy="1501748"/>
          </a:xfrm>
          <a:prstGeom prst="rect">
            <a:avLst/>
          </a:prstGeom>
          <a:solidFill>
            <a:schemeClr val="accent5">
              <a:lumMod val="50000"/>
            </a:schemeClr>
          </a:solidFill>
          <a:ln w="0">
            <a:solidFill>
              <a:schemeClr val="tx1"/>
            </a:solidFill>
          </a:ln>
        </p:spPr>
        <p:txBody>
          <a:bodyPr anchor="ctr">
            <a:noAutofit/>
          </a:bodyPr>
          <a:lstStyle>
            <a:defPPr>
              <a:defRPr sz="1725" b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r>
              <a:rPr sz="2800" b="1" dirty="0">
                <a:solidFill>
                  <a:srgbClr val="F1F5FA"/>
                </a:solidFill>
                <a:latin typeface="Bitstream Charter"/>
              </a:rPr>
              <a:t>Starts, permits and sales</a:t>
            </a:r>
            <a:r>
              <a:rPr lang="en-GB" sz="2800" b="1" dirty="0">
                <a:solidFill>
                  <a:srgbClr val="F1F5FA"/>
                </a:solidFill>
                <a:latin typeface="Bitstream Charter"/>
              </a:rPr>
              <a:t> are closely linked.</a:t>
            </a:r>
          </a:p>
          <a:p>
            <a:r>
              <a:rPr sz="2800" b="1" dirty="0">
                <a:solidFill>
                  <a:srgbClr val="F1F5FA"/>
                </a:solidFill>
                <a:latin typeface="Bitstream Charter"/>
              </a:rPr>
              <a:t>House prices rose while starts recovered. </a:t>
            </a:r>
            <a:endParaRPr lang="en-GB" sz="2800" b="1" dirty="0">
              <a:solidFill>
                <a:srgbClr val="F1F5FA"/>
              </a:solidFill>
              <a:latin typeface="Bitstream Charter"/>
            </a:endParaRPr>
          </a:p>
          <a:p>
            <a:r>
              <a:rPr lang="en-GB" sz="2800" b="1" dirty="0">
                <a:solidFill>
                  <a:srgbClr val="F1F5FA"/>
                </a:solidFill>
                <a:latin typeface="Bitstream Charter"/>
              </a:rPr>
              <a:t>Months of supply tends to move inversely with housing starts.</a:t>
            </a:r>
            <a:endParaRPr sz="2800" b="1" dirty="0">
              <a:solidFill>
                <a:srgbClr val="F1F5FA"/>
              </a:solidFill>
              <a:latin typeface="Bitstream Charter"/>
            </a:endParaRP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9A884971-5958-6C4F-F1B1-AF4DE5C213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158"/>
          <a:stretch>
            <a:fillRect/>
          </a:stretch>
        </p:blipFill>
        <p:spPr>
          <a:xfrm>
            <a:off x="1518290" y="972888"/>
            <a:ext cx="6502296" cy="3481522"/>
          </a:xfrm>
          <a:prstGeom prst="rect">
            <a:avLst/>
          </a:prstGeom>
          <a:ln w="76200">
            <a:solidFill>
              <a:schemeClr val="accent5">
                <a:lumMod val="50000"/>
              </a:schemeClr>
            </a:solidFill>
          </a:ln>
        </p:spPr>
      </p:pic>
      <p:pic>
        <p:nvPicPr>
          <p:cNvPr id="56" name="Picture 55" descr="Image preview">
            <a:extLst>
              <a:ext uri="{FF2B5EF4-FFF2-40B4-BE49-F238E27FC236}">
                <a16:creationId xmlns:a16="http://schemas.microsoft.com/office/drawing/2014/main" id="{9173DDCD-5378-1822-8E2E-2F91A1683B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2841" y="2182396"/>
            <a:ext cx="2772750" cy="124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963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D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C5ABF8-6100-C86D-F4EA-72F8787A3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1640E147-D2A8-0C15-34FD-A699147A8830}"/>
              </a:ext>
            </a:extLst>
          </p:cNvPr>
          <p:cNvSpPr/>
          <p:nvPr/>
        </p:nvSpPr>
        <p:spPr>
          <a:xfrm>
            <a:off x="8212093" y="1935481"/>
            <a:ext cx="3194247" cy="2045392"/>
          </a:xfrm>
          <a:prstGeom prst="rect">
            <a:avLst/>
          </a:prstGeom>
          <a:solidFill>
            <a:srgbClr val="F9EB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GB" sz="1400">
                <a:solidFill>
                  <a:schemeClr val="tx1"/>
                </a:solidFill>
              </a:rPr>
              <a:t>Series rebased to 1 at January 2000</a:t>
            </a: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D46D1D-3E28-3AC6-2BB8-04562E07F56C}"/>
              </a:ext>
            </a:extLst>
          </p:cNvPr>
          <p:cNvSpPr>
            <a:spLocks noGrp="1"/>
          </p:cNvSpPr>
          <p:nvPr/>
        </p:nvSpPr>
        <p:spPr>
          <a:xfrm>
            <a:off x="695324" y="206682"/>
            <a:ext cx="111633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3000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 dirty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Housing starts and economic factors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9F0E823-27F7-8169-73B1-B8F44548E0DB}"/>
              </a:ext>
            </a:extLst>
          </p:cNvPr>
          <p:cNvSpPr>
            <a:spLocks noGrp="1"/>
          </p:cNvSpPr>
          <p:nvPr/>
        </p:nvSpPr>
        <p:spPr>
          <a:xfrm>
            <a:off x="557784" y="5009511"/>
            <a:ext cx="11484864" cy="1501748"/>
          </a:xfrm>
          <a:prstGeom prst="rect">
            <a:avLst/>
          </a:prstGeom>
          <a:solidFill>
            <a:schemeClr val="accent5">
              <a:lumMod val="50000"/>
            </a:schemeClr>
          </a:solidFill>
          <a:ln w="0">
            <a:solidFill>
              <a:schemeClr val="tx1"/>
            </a:solidFill>
          </a:ln>
        </p:spPr>
        <p:txBody>
          <a:bodyPr anchor="ctr">
            <a:noAutofit/>
          </a:bodyPr>
          <a:lstStyle>
            <a:defPPr>
              <a:defRPr sz="1725" b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r>
              <a:rPr lang="en-GB" sz="2800" b="1" dirty="0">
                <a:solidFill>
                  <a:srgbClr val="F1F5FA"/>
                </a:solidFill>
                <a:latin typeface="Bitstream Charter"/>
              </a:rPr>
              <a:t>Unemployment often moves opposite to housing starts.</a:t>
            </a:r>
          </a:p>
          <a:p>
            <a:r>
              <a:rPr lang="en-GB" sz="2800" b="1" dirty="0">
                <a:solidFill>
                  <a:srgbClr val="F1F5FA"/>
                </a:solidFill>
                <a:latin typeface="Bitstream Charter"/>
              </a:rPr>
              <a:t>Interest-rate relationships vary over time.</a:t>
            </a:r>
          </a:p>
          <a:p>
            <a:r>
              <a:rPr lang="en-GB" sz="2800" b="1" dirty="0">
                <a:solidFill>
                  <a:srgbClr val="F1F5FA"/>
                </a:solidFill>
                <a:latin typeface="Bitstream Charter"/>
              </a:rPr>
              <a:t>The CPI level shows a different long-term pattern from housing starts.</a:t>
            </a:r>
          </a:p>
        </p:txBody>
      </p:sp>
      <p:pic>
        <p:nvPicPr>
          <p:cNvPr id="2" name="Picture 1" descr="Image preview">
            <a:extLst>
              <a:ext uri="{FF2B5EF4-FFF2-40B4-BE49-F238E27FC236}">
                <a16:creationId xmlns:a16="http://schemas.microsoft.com/office/drawing/2014/main" id="{FEA140E7-9075-BE22-D350-1026AB238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101" y="2149227"/>
            <a:ext cx="2110500" cy="13518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B5E440-F16D-73F8-2163-69FCDEEB47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406"/>
          <a:stretch>
            <a:fillRect/>
          </a:stretch>
        </p:blipFill>
        <p:spPr>
          <a:xfrm>
            <a:off x="1077312" y="1125087"/>
            <a:ext cx="6706187" cy="3477999"/>
          </a:xfrm>
          <a:prstGeom prst="rect">
            <a:avLst/>
          </a:prstGeom>
          <a:ln w="76200">
            <a:solidFill>
              <a:schemeClr val="accent5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05836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D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59A2F359-52EA-55A1-A64A-2E6F450645EB}"/>
              </a:ext>
            </a:extLst>
          </p:cNvPr>
          <p:cNvSpPr/>
          <p:nvPr/>
        </p:nvSpPr>
        <p:spPr>
          <a:xfrm>
            <a:off x="8315557" y="885190"/>
            <a:ext cx="3808771" cy="3852545"/>
          </a:xfrm>
          <a:prstGeom prst="rect">
            <a:avLst/>
          </a:prstGeom>
          <a:solidFill>
            <a:srgbClr val="F9EB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F805C0-96FF-43A4-A882-E8EB305B67F4}"/>
              </a:ext>
            </a:extLst>
          </p:cNvPr>
          <p:cNvSpPr>
            <a:spLocks noGrp="1"/>
          </p:cNvSpPr>
          <p:nvPr/>
        </p:nvSpPr>
        <p:spPr>
          <a:xfrm>
            <a:off x="742950" y="190842"/>
            <a:ext cx="111633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3000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 dirty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Model predictions versus observed housing starts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9332CB7-4642-403A-97CC-D6A707BD8EA5}"/>
              </a:ext>
            </a:extLst>
          </p:cNvPr>
          <p:cNvSpPr>
            <a:spLocks noGrp="1"/>
          </p:cNvSpPr>
          <p:nvPr/>
        </p:nvSpPr>
        <p:spPr>
          <a:xfrm>
            <a:off x="393193" y="5005143"/>
            <a:ext cx="11623316" cy="166201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0">
            <a:solidFill>
              <a:schemeClr val="tx1"/>
            </a:solidFill>
          </a:ln>
        </p:spPr>
        <p:txBody>
          <a:bodyPr anchor="ctr">
            <a:noAutofit/>
          </a:bodyPr>
          <a:lstStyle>
            <a:defPPr>
              <a:defRPr sz="1725" b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r>
              <a:rPr lang="en-GB" sz="2800" b="1" dirty="0">
                <a:solidFill>
                  <a:srgbClr val="F1F5FA"/>
                </a:solidFill>
                <a:latin typeface="Bitstream Charter"/>
              </a:rPr>
              <a:t>We compared models using different factors and lag selections, trained </a:t>
            </a:r>
            <a:r>
              <a:rPr lang="en-GB" sz="2800" b="1">
                <a:solidFill>
                  <a:srgbClr val="F1F5FA"/>
                </a:solidFill>
                <a:latin typeface="Bitstream Charter"/>
              </a:rPr>
              <a:t>through Dec </a:t>
            </a:r>
            <a:r>
              <a:rPr lang="en-GB" sz="2800" b="1" dirty="0">
                <a:solidFill>
                  <a:srgbClr val="F1F5FA"/>
                </a:solidFill>
                <a:latin typeface="Bitstream Charter"/>
              </a:rPr>
              <a:t>2020 to predict Jan 2021 to Dec 2023.</a:t>
            </a:r>
          </a:p>
          <a:p>
            <a:r>
              <a:rPr lang="en-GB" sz="2800" b="1" dirty="0">
                <a:solidFill>
                  <a:srgbClr val="F1F5FA"/>
                </a:solidFill>
                <a:latin typeface="Bitstream Charter"/>
              </a:rPr>
              <a:t>Simple Ridge models on using selected factors and fewer lags got the best results.</a:t>
            </a:r>
            <a:endParaRPr sz="2800" b="1" dirty="0">
              <a:solidFill>
                <a:srgbClr val="F1F5FA"/>
              </a:solidFill>
              <a:latin typeface="Bitstream Charter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1F916EC-9D97-445D-72A6-575D1D7821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784" b="8106"/>
          <a:stretch>
            <a:fillRect/>
          </a:stretch>
        </p:blipFill>
        <p:spPr>
          <a:xfrm>
            <a:off x="1353312" y="885190"/>
            <a:ext cx="6642370" cy="3873969"/>
          </a:xfrm>
          <a:prstGeom prst="rect">
            <a:avLst/>
          </a:prstGeom>
          <a:ln w="76200">
            <a:solidFill>
              <a:schemeClr val="accent5">
                <a:lumMod val="50000"/>
              </a:schemeClr>
            </a:solidFill>
          </a:ln>
        </p:spPr>
      </p:pic>
      <p:pic>
        <p:nvPicPr>
          <p:cNvPr id="34" name="Picture 33" descr="Image preview">
            <a:extLst>
              <a:ext uri="{FF2B5EF4-FFF2-40B4-BE49-F238E27FC236}">
                <a16:creationId xmlns:a16="http://schemas.microsoft.com/office/drawing/2014/main" id="{05AA8B4E-0DA1-D15B-FF75-A7D670DA01D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1258"/>
          <a:stretch>
            <a:fillRect/>
          </a:stretch>
        </p:blipFill>
        <p:spPr>
          <a:xfrm>
            <a:off x="8315557" y="1152598"/>
            <a:ext cx="3808771" cy="331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9192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D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AA6D3B84-0764-3282-0562-10BDA943A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3484" y="762342"/>
            <a:ext cx="7164899" cy="4047402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685D502-1CF0-31CD-B4E0-37158E7490E7}"/>
              </a:ext>
            </a:extLst>
          </p:cNvPr>
          <p:cNvSpPr>
            <a:spLocks noGrp="1"/>
          </p:cNvSpPr>
          <p:nvPr/>
        </p:nvSpPr>
        <p:spPr>
          <a:xfrm>
            <a:off x="621792" y="4919472"/>
            <a:ext cx="11055858" cy="1766571"/>
          </a:xfrm>
          <a:prstGeom prst="rect">
            <a:avLst/>
          </a:prstGeom>
          <a:solidFill>
            <a:schemeClr val="accent5">
              <a:lumMod val="50000"/>
            </a:schemeClr>
          </a:solidFill>
          <a:ln w="0">
            <a:solidFill>
              <a:schemeClr val="tx1"/>
            </a:solidFill>
          </a:ln>
        </p:spPr>
        <p:txBody>
          <a:bodyPr anchor="ctr">
            <a:noAutofit/>
          </a:bodyPr>
          <a:lstStyle>
            <a:defPPr>
              <a:defRPr sz="1725" b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r>
              <a:rPr lang="en-GB" sz="2800" b="1" dirty="0">
                <a:solidFill>
                  <a:srgbClr val="F1F5FA"/>
                </a:solidFill>
                <a:latin typeface="Bitstream Charter"/>
              </a:rPr>
              <a:t>Selected Ridge models beat the baseline on the 2021–2023 holdout, but improvements were inconsistent across earlier periods.</a:t>
            </a:r>
          </a:p>
          <a:p>
            <a:r>
              <a:rPr lang="en-GB" sz="2800" b="1" dirty="0">
                <a:solidFill>
                  <a:srgbClr val="F1F5FA"/>
                </a:solidFill>
                <a:latin typeface="Bitstream Charter"/>
              </a:rPr>
              <a:t>Ridge models with selected inputs performed best on the 2021–2023 holdout.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3494AE-BEC4-BF1C-6501-0A9508AF65F9}"/>
              </a:ext>
            </a:extLst>
          </p:cNvPr>
          <p:cNvSpPr>
            <a:spLocks noGrp="1"/>
          </p:cNvSpPr>
          <p:nvPr/>
        </p:nvSpPr>
        <p:spPr>
          <a:xfrm>
            <a:off x="742950" y="190842"/>
            <a:ext cx="111633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3000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GB" sz="3000" b="1" dirty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Measurements of Model Accuracy</a:t>
            </a:r>
            <a:endParaRPr sz="3000" b="1" dirty="0">
              <a:solidFill>
                <a:srgbClr val="F1F5FA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1D3755-3713-1E7B-3416-9192E91DB28A}"/>
              </a:ext>
            </a:extLst>
          </p:cNvPr>
          <p:cNvSpPr txBox="1"/>
          <p:nvPr/>
        </p:nvSpPr>
        <p:spPr>
          <a:xfrm>
            <a:off x="9833495" y="687404"/>
            <a:ext cx="170764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Lower is better</a:t>
            </a:r>
          </a:p>
        </p:txBody>
      </p:sp>
    </p:spTree>
    <p:extLst>
      <p:ext uri="{BB962C8B-B14F-4D97-AF65-F5344CB8AC3E}">
        <p14:creationId xmlns:p14="http://schemas.microsoft.com/office/powerpoint/2010/main" val="1333934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D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2AE9D8-326C-EDDB-0DB3-CCE7EA01D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C3C1EFB-19CC-C6F4-0E08-CDDF63E4913A}"/>
              </a:ext>
            </a:extLst>
          </p:cNvPr>
          <p:cNvSpPr>
            <a:spLocks noGrp="1"/>
          </p:cNvSpPr>
          <p:nvPr/>
        </p:nvSpPr>
        <p:spPr>
          <a:xfrm>
            <a:off x="796672" y="826532"/>
            <a:ext cx="10852784" cy="2940796"/>
          </a:xfrm>
          <a:prstGeom prst="rect">
            <a:avLst/>
          </a:prstGeom>
          <a:solidFill>
            <a:schemeClr val="accent5">
              <a:lumMod val="50000"/>
            </a:schemeClr>
          </a:solidFill>
          <a:ln w="0">
            <a:solidFill>
              <a:schemeClr val="tx1"/>
            </a:solidFill>
          </a:ln>
        </p:spPr>
        <p:txBody>
          <a:bodyPr anchor="ctr">
            <a:noAutofit/>
          </a:bodyPr>
          <a:lstStyle>
            <a:defPPr>
              <a:defRPr sz="1725" b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r>
              <a:rPr lang="en-GB" sz="3000" b="1" dirty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Caveats:</a:t>
            </a:r>
            <a:endParaRPr lang="en-GB" sz="3000" b="1" dirty="0">
              <a:solidFill>
                <a:srgbClr val="F1F5FA"/>
              </a:solidFill>
              <a:latin typeface="Bitstream Charter"/>
            </a:endParaRPr>
          </a:p>
          <a:p>
            <a:r>
              <a:rPr lang="en-GB" sz="3000" b="1" dirty="0">
                <a:solidFill>
                  <a:srgbClr val="F1F5FA"/>
                </a:solidFill>
                <a:latin typeface="Bitstream Charter"/>
              </a:rPr>
              <a:t>The main comparison uses one holdout period; </a:t>
            </a:r>
            <a:r>
              <a:rPr lang="en-GB" sz="3000" b="1" dirty="0" err="1">
                <a:solidFill>
                  <a:srgbClr val="F1F5FA"/>
                </a:solidFill>
                <a:latin typeface="Bitstream Charter"/>
              </a:rPr>
              <a:t>backtests</a:t>
            </a:r>
            <a:r>
              <a:rPr lang="en-GB" sz="3000" b="1" dirty="0">
                <a:solidFill>
                  <a:srgbClr val="F1F5FA"/>
                </a:solidFill>
                <a:latin typeface="Bitstream Charter"/>
              </a:rPr>
              <a:t> assess several earlier cutoffs. No model consistently beat the baseline across earlier periods.</a:t>
            </a:r>
          </a:p>
          <a:p>
            <a:r>
              <a:rPr lang="en-GB" sz="3000" b="1" dirty="0">
                <a:solidFill>
                  <a:srgbClr val="F1F5FA"/>
                </a:solidFill>
                <a:latin typeface="Bitstream Charter"/>
              </a:rPr>
              <a:t>Results vary by economic period. Overlapping forecasts and revised data limit confidence.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2C1726-0C80-D389-CD76-355BBBB8C1A8}"/>
              </a:ext>
            </a:extLst>
          </p:cNvPr>
          <p:cNvSpPr>
            <a:spLocks noGrp="1"/>
          </p:cNvSpPr>
          <p:nvPr/>
        </p:nvSpPr>
        <p:spPr>
          <a:xfrm>
            <a:off x="742950" y="190842"/>
            <a:ext cx="111633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defPPr>
          </a:lstStyle>
          <a:p>
            <a:pPr>
              <a:defRPr sz="3000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endParaRPr lang="en-GB" sz="3000" b="1" dirty="0">
              <a:solidFill>
                <a:srgbClr val="F1F5FA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C139B6-0C31-7B46-A958-514744C2A5F1}"/>
              </a:ext>
            </a:extLst>
          </p:cNvPr>
          <p:cNvSpPr txBox="1"/>
          <p:nvPr/>
        </p:nvSpPr>
        <p:spPr>
          <a:xfrm>
            <a:off x="796670" y="4087368"/>
            <a:ext cx="10852785" cy="2108692"/>
          </a:xfrm>
          <a:prstGeom prst="rect">
            <a:avLst/>
          </a:prstGeom>
          <a:solidFill>
            <a:schemeClr val="accent5">
              <a:lumMod val="50000"/>
            </a:schemeClr>
          </a:solidFill>
          <a:ln w="0">
            <a:solidFill>
              <a:schemeClr val="tx1"/>
            </a:solidFill>
          </a:ln>
        </p:spPr>
        <p:txBody>
          <a:bodyPr anchor="ctr">
            <a:noAutofit/>
          </a:bodyPr>
          <a:lstStyle>
            <a:defPPr>
              <a:defRPr lang="en-US" sz="1725" b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defPPr>
            <a:lvl1pPr>
              <a:defRPr sz="3000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lvl1pPr>
          </a:lstStyle>
          <a:p>
            <a:r>
              <a:rPr lang="en-GB" dirty="0"/>
              <a:t>Future work: </a:t>
            </a:r>
          </a:p>
          <a:p>
            <a:r>
              <a:rPr lang="en-GB" dirty="0"/>
              <a:t>Test shorter training windows, tune using earlier periods, and evaluate on untouched data.</a:t>
            </a:r>
          </a:p>
        </p:txBody>
      </p:sp>
    </p:spTree>
    <p:extLst>
      <p:ext uri="{BB962C8B-B14F-4D97-AF65-F5344CB8AC3E}">
        <p14:creationId xmlns:p14="http://schemas.microsoft.com/office/powerpoint/2010/main" val="216636779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hatGPT">
    <a:dk1>
      <a:srgbClr val="000000"/>
    </a:dk1>
    <a:lt1>
      <a:srgbClr val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</TotalTime>
  <Words>291</Words>
  <Application>Microsoft Office PowerPoint</Application>
  <DocSecurity>0</DocSecurity>
  <PresentationFormat>Widescreen</PresentationFormat>
  <Paragraphs>30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Bitstream Charter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alex miles</cp:lastModifiedBy>
  <cp:revision>11</cp:revision>
  <dcterms:created xsi:type="dcterms:W3CDTF">2026-10-11T17:03:13Z</dcterms:created>
  <dcterms:modified xsi:type="dcterms:W3CDTF">2026-10-15T06:48:51Z</dcterms:modified>
</cp:coreProperties>
</file>