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Weight</c:v>
          </c:tx>
          <c:spPr>
            <a:solidFill>
              <a:srgbClr val="B7DAF0"/>
            </a:solidFill>
          </c:spPr>
          <c:invertIfNegative val="1"/>
          <c:dPt>
            <c:idx val="3"/>
            <c:invertIfNegative val="0"/>
            <c:bubble3D val="0"/>
            <c:spPr>
              <a:solidFill>
                <a:srgbClr val="F2D298"/>
              </a:solidFill>
            </c:spPr>
            <c:extLst>
              <c:ext xmlns:c16="http://schemas.microsoft.com/office/drawing/2014/chart" uri="{C3380CC4-5D6E-409C-BE32-E72D297353CC}">
                <c16:uniqueId val="{00000001-1EDF-4905-AE98-A42A0B0B316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01D2C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EDF-4905-AE98-A42A0B0B316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Column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Weight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  <c:majorUnit val="3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Elo</c:v>
          </c:tx>
          <c:spPr>
            <a:solidFill>
              <a:srgbClr val="B7DAF0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75" b="1">
                        <a:solidFill>
                          <a:srgbClr val="101D2C"/>
                        </a:solidFill>
                        <a:latin typeface="Bitstream Charter"/>
                        <a:ea typeface="Bitstream Charter"/>
                        <a:cs typeface="Bitstream Charter"/>
                      </a:rPr>
                      <a:t>≈630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D50-441F-95E5-8D45E6C92BB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75" b="1">
                        <a:solidFill>
                          <a:srgbClr val="101D2C"/>
                        </a:solidFill>
                        <a:latin typeface="Bitstream Charter"/>
                        <a:ea typeface="Bitstream Charter"/>
                        <a:cs typeface="Bitstream Charter"/>
                      </a:rPr>
                      <a:t>≈100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D50-441F-95E5-8D45E6C92B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Final agent</c:v>
                </c:pt>
                <c:pt idx="1">
                  <c:v>Starting agent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630</c:v>
                </c:pt>
                <c:pt idx="1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D50-441F-95E5-8D45E6C92B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Agent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Reported Elo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  <c:majorUnit val="350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HTML introduction and evaluation section. Image is an imagegen pixel-art conversion with transparent background of the supplied intro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HTML WEIGHTS_1 uses column weights [3,4,5,6,5,4,3], with additional rewards/penalties for threats and opponent positions. Submission narrative selects configuration 1 with depth 6. Column indices exact, weight labels use two significant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HTML alpha-beta explanation. Illustrative scores. Known A score=4; opponent can force score at most -2 on B, so B cannot improve A and remaining descendants of B need not be evaluated. This preserves the minimax choice at the same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HTML baseline around 100 and final submission about 630. Intermediate depth-4/depth-6 unweighted agents were compared in local tournaments, but no Elo ratings were reported. No Elo estimates have been invented. Zero-length placeholders for the two unreported stages create blank chart rows only and do not represent measured zero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4394367-D1F0-4FEC-B460-CB106EB0871E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4E65011-253F-48C9-AF9B-065E5B90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B9D712C-B755-4CA6-9BCC-F419AACA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FE81FEFC-0236-4605-827A-2069DD0EBEF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372B0E71-5AE5-4ED2-9545-93FF5A5D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5A4EC8B-684D-4AE4-BC36-926D9900CA4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2EE3A4B-4C69-4970-956B-D9670CA69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1B448E8-81E9-4BEB-BFF4-1D74AC316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BB91828-D6FD-4B79-BFCA-8C3BAC6FF45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03748A4-49F0-43C5-BC43-DD7E6D49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FFB4384-4D8C-4C31-AA71-271F67B6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8D35AB8E-2097-49DC-9B6E-D86BEF59B9A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12E9143-8A80-450C-AF92-B556F55D082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2C06253-95E9-4EA8-89FA-0E64C83C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D6FBD99-80F0-4B80-923B-851814F0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1146" b="211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1D0273-C80A-4E7D-94FC-B939A636F9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88BBA0-1984-4198-A006-18C55197B31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Objective</a:t>
            </a:r>
            <a:r>
              <a:rPr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571A17-7AE6-41FF-B92E-D6F5A9C2FB70}"/>
              </a:ext>
            </a:extLst>
          </p:cNvPr>
          <p:cNvSpPr>
            <a:spLocks noGrp="1"/>
          </p:cNvSpPr>
          <p:nvPr/>
        </p:nvSpPr>
        <p:spPr>
          <a:xfrm>
            <a:off x="609600" y="1207224"/>
            <a:ext cx="11315700" cy="103362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Our goal is to make an AI agent to compete and win against other AIs in a connect 4 style battle. </a:t>
            </a: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Our AI must choose a strong move within 2.0 seconds.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0" y="2524151"/>
            <a:ext cx="10287000" cy="344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8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1146" b="211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4A4DA8A-9157-4481-80BB-3215DC0266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18838-D084-4FF3-925E-74B5F89BE61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Our agent searches and scores positions.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30B52-4804-4F3D-BD44-E519FB703AA3}"/>
              </a:ext>
            </a:extLst>
          </p:cNvPr>
          <p:cNvSpPr>
            <a:spLocks noGrp="1"/>
          </p:cNvSpPr>
          <p:nvPr/>
        </p:nvSpPr>
        <p:spPr>
          <a:xfrm>
            <a:off x="609600" y="938703"/>
            <a:ext cx="10972800" cy="120540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It searches six moves ahead and </a:t>
            </a: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evaluates the that position.</a:t>
            </a: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Our loss function evaluated a winning position as infinite gain, rewarded control of central columns, and rewarded 2 or 3 tiles in a row. It scored negatively if the opponent had these. </a:t>
            </a:r>
            <a:endParaRPr sz="2175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graphicFrame>
        <p:nvGraphicFramePr>
          <p:cNvPr id="10" name="Chart"/>
          <p:cNvGraphicFramePr/>
          <p:nvPr>
            <p:extLst>
              <p:ext uri="{D42A27DB-BD31-4B8C-83A1-F6EECF244321}">
                <p14:modId xmlns:p14="http://schemas.microsoft.com/office/powerpoint/2010/main" val="3686134269"/>
              </p:ext>
            </p:extLst>
          </p:nvPr>
        </p:nvGraphicFramePr>
        <p:xfrm>
          <a:off x="609600" y="2457777"/>
          <a:ext cx="1097280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4955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t="21146" b="211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6CD66F-D2C4-4551-80DA-7C325432DD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38D0AB-8E62-41E0-8891-5D8F39E5940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Pruning skips searches that cannot help.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F5306-40CB-4675-9E7B-B39CF3F7034E}"/>
              </a:ext>
            </a:extLst>
          </p:cNvPr>
          <p:cNvSpPr>
            <a:spLocks noGrp="1"/>
          </p:cNvSpPr>
          <p:nvPr/>
        </p:nvSpPr>
        <p:spPr>
          <a:xfrm>
            <a:off x="609600" y="1057276"/>
            <a:ext cx="11214538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Pruning the future tree of irrelevant moves allows us to explore only relevant future states.</a:t>
            </a: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This allows us to explore up to 6 levels deep of the move tree and keep under the 2 second limit. </a:t>
            </a:r>
            <a:endParaRPr sz="2175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7D2E981-F4FC-4B29-A947-94F8305F70F8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809625" cy="0"/>
          </a:xfrm>
          <a:prstGeom prst="line">
            <a:avLst/>
          </a:prstGeom>
          <a:noFill/>
          <a:ln w="47625">
            <a:solidFill>
              <a:srgbClr val="F2D29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2B1CF2C-51E6-434E-852B-E7682B361028}"/>
              </a:ext>
            </a:extLst>
          </p:cNvPr>
          <p:cNvSpPr>
            <a:spLocks noGrp="1"/>
          </p:cNvSpPr>
          <p:nvPr/>
        </p:nvSpPr>
        <p:spPr>
          <a:xfrm rot="5400000">
            <a:off x="3048000" y="4286250"/>
            <a:ext cx="2381250" cy="0"/>
          </a:xfrm>
          <a:prstGeom prst="line">
            <a:avLst/>
          </a:prstGeom>
          <a:noFill/>
          <a:ln w="28575">
            <a:solidFill>
              <a:srgbClr val="91A8B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C4B916B-D5CC-496C-A0E8-AA1593368FC0}"/>
              </a:ext>
            </a:extLst>
          </p:cNvPr>
          <p:cNvSpPr>
            <a:spLocks noGrp="1"/>
          </p:cNvSpPr>
          <p:nvPr/>
        </p:nvSpPr>
        <p:spPr>
          <a:xfrm>
            <a:off x="4238625" y="3095625"/>
            <a:ext cx="714375" cy="0"/>
          </a:xfrm>
          <a:prstGeom prst="line">
            <a:avLst/>
          </a:prstGeom>
          <a:noFill/>
          <a:ln w="47625">
            <a:solidFill>
              <a:srgbClr val="F2D29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93D67C8-CBFD-4584-96D4-0651A905563E}"/>
              </a:ext>
            </a:extLst>
          </p:cNvPr>
          <p:cNvSpPr>
            <a:spLocks noGrp="1"/>
          </p:cNvSpPr>
          <p:nvPr/>
        </p:nvSpPr>
        <p:spPr>
          <a:xfrm>
            <a:off x="4238625" y="5476875"/>
            <a:ext cx="714375" cy="0"/>
          </a:xfrm>
          <a:prstGeom prst="line">
            <a:avLst/>
          </a:prstGeom>
          <a:noFill/>
          <a:ln w="28575">
            <a:solidFill>
              <a:srgbClr val="91A8B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DA4351D-F95A-4811-BF5E-6824F89DFB73}"/>
              </a:ext>
            </a:extLst>
          </p:cNvPr>
          <p:cNvSpPr>
            <a:spLocks noGrp="1"/>
          </p:cNvSpPr>
          <p:nvPr/>
        </p:nvSpPr>
        <p:spPr>
          <a:xfrm>
            <a:off x="7572375" y="5476875"/>
            <a:ext cx="619125" cy="0"/>
          </a:xfrm>
          <a:prstGeom prst="line">
            <a:avLst/>
          </a:prstGeom>
          <a:noFill/>
          <a:ln w="19050">
            <a:solidFill>
              <a:srgbClr val="53627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FD1E99-8222-4FB3-ABCB-A9EBD0B68652}"/>
              </a:ext>
            </a:extLst>
          </p:cNvPr>
          <p:cNvSpPr>
            <a:spLocks noGrp="1"/>
          </p:cNvSpPr>
          <p:nvPr/>
        </p:nvSpPr>
        <p:spPr>
          <a:xfrm>
            <a:off x="809625" y="3857625"/>
            <a:ext cx="2619375" cy="857250"/>
          </a:xfrm>
          <a:prstGeom prst="roundRect">
            <a:avLst>
              <a:gd name="adj" fmla="val 8889"/>
            </a:avLst>
          </a:prstGeom>
          <a:solidFill>
            <a:srgbClr val="223C50"/>
          </a:solidFill>
          <a:ln w="19050">
            <a:solidFill>
              <a:srgbClr val="F2D298"/>
            </a:solidFill>
          </a:ln>
        </p:spPr>
        <p:txBody>
          <a:bodyPr anchor="ctr"/>
          <a:lstStyle/>
          <a:p>
            <a:pPr algn="ctr">
              <a:def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We choose 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56DC0-05CA-405E-865F-0D4D30FF2941}"/>
              </a:ext>
            </a:extLst>
          </p:cNvPr>
          <p:cNvSpPr>
            <a:spLocks noGrp="1"/>
          </p:cNvSpPr>
          <p:nvPr/>
        </p:nvSpPr>
        <p:spPr>
          <a:xfrm>
            <a:off x="4953000" y="2667000"/>
            <a:ext cx="2619375" cy="857250"/>
          </a:xfrm>
          <a:prstGeom prst="roundRect">
            <a:avLst>
              <a:gd name="adj" fmla="val 8889"/>
            </a:avLst>
          </a:prstGeom>
          <a:solidFill>
            <a:srgbClr val="223C50"/>
          </a:solidFill>
          <a:ln w="19050">
            <a:solidFill>
              <a:srgbClr val="F2D298"/>
            </a:solidFill>
          </a:ln>
        </p:spPr>
        <p:txBody>
          <a:bodyPr anchor="ctr"/>
          <a:lstStyle/>
          <a:p>
            <a:pPr algn="ctr">
              <a:def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A guarantees 4.0.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B40BC0-1BA7-42DA-9915-731804119B59}"/>
              </a:ext>
            </a:extLst>
          </p:cNvPr>
          <p:cNvSpPr>
            <a:spLocks noGrp="1"/>
          </p:cNvSpPr>
          <p:nvPr/>
        </p:nvSpPr>
        <p:spPr>
          <a:xfrm>
            <a:off x="4953000" y="5048250"/>
            <a:ext cx="2619375" cy="857250"/>
          </a:xfrm>
          <a:prstGeom prst="roundRect">
            <a:avLst>
              <a:gd name="adj" fmla="val 8889"/>
            </a:avLst>
          </a:prstGeom>
          <a:solidFill>
            <a:srgbClr val="101D2C"/>
          </a:solidFill>
          <a:ln w="19050">
            <a:solidFill>
              <a:srgbClr val="B7DAF0"/>
            </a:solidFill>
          </a:ln>
        </p:spPr>
        <p:txBody>
          <a:bodyPr anchor="ctr"/>
          <a:lstStyle/>
          <a:p>
            <a:pPr algn="ctr">
              <a:def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B allows −2.0.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973CDF-F057-484A-A46E-14928411D7CA}"/>
              </a:ext>
            </a:extLst>
          </p:cNvPr>
          <p:cNvSpPr>
            <a:spLocks noGrp="1"/>
          </p:cNvSpPr>
          <p:nvPr/>
        </p:nvSpPr>
        <p:spPr>
          <a:xfrm>
            <a:off x="8191500" y="4953000"/>
            <a:ext cx="3190875" cy="1047750"/>
          </a:xfrm>
          <a:prstGeom prst="roundRect">
            <a:avLst>
              <a:gd name="adj" fmla="val 7273"/>
            </a:avLst>
          </a:prstGeom>
          <a:solidFill>
            <a:srgbClr val="172433"/>
          </a:solidFill>
          <a:ln w="19050">
            <a:solidFill>
              <a:srgbClr val="536277"/>
            </a:solidFill>
          </a:ln>
        </p:spPr>
        <p:txBody>
          <a:bodyPr anchor="ctr"/>
          <a:lstStyle/>
          <a:p>
            <a:pPr algn="ctr">
              <a:defRPr sz="202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We skip B’s</a:t>
            </a:r>
          </a:p>
          <a:p>
            <a:pPr algn="ctr">
              <a:defRPr sz="202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remaining moves.</a:t>
            </a:r>
          </a:p>
        </p:txBody>
      </p:sp>
    </p:spTree>
    <p:extLst>
      <p:ext uri="{BB962C8B-B14F-4D97-AF65-F5344CB8AC3E}">
        <p14:creationId xmlns:p14="http://schemas.microsoft.com/office/powerpoint/2010/main" val="95185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1146" b="211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DC822A-7350-4C1C-8D27-78DE1C415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67970-E504-47A1-B273-01F22057069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Stronger agents achieve higher reported Elo.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4DB166-7AEC-4B90-8A23-56A08B90C07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Elo is a measure of competitive success.</a:t>
            </a: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Its reported Elo rating rises from about 100 to 630</a:t>
            </a: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 with our improved agent AI</a:t>
            </a: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09600" y="2047875"/>
          <a:ext cx="1097280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42684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DocSecurity>0</DocSecurity>
  <PresentationFormat>Widescreen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miles</cp:lastModifiedBy>
  <cp:revision>1</cp:revision>
  <dcterms:created xsi:type="dcterms:W3CDTF">2026-10-02T08:04:39Z</dcterms:created>
  <dcterms:modified xsi:type="dcterms:W3CDTF">2026-10-02T08:29:16Z</dcterms:modified>
</cp:coreProperties>
</file>